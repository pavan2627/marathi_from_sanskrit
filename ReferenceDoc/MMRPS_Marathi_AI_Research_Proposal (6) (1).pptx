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ifQXPOUmV5OwOtdAkZlIDA/i/4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3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329404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slide. Introduce the team and context. Highlight that this is a seed-fund proposal for MMRPS.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8242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Marathi is a major Indo-Aryan language with a well-documented but entirely manual history of evolution. The core problem is the absence of an AI system that can reconstruct and explain this evolution.</a:t>
            </a:r>
            <a:endParaRPr/>
          </a:p>
        </p:txBody>
      </p:sp>
      <p:sp>
        <p:nvSpPr>
          <p:cNvPr id="33" name="Google Shape;3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589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Seven key research gaps justify this project. Emphasize that the combination of hybrid modelling + explainability + Indic language focus is entirely novel.</a:t>
            </a:r>
            <a:endParaRPr/>
          </a:p>
        </p:txBody>
      </p:sp>
      <p:sp>
        <p:nvSpPr>
          <p:cNvPr id="55" name="Google Shape;5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3900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Eight objectives map directly to the research gaps. Walk through each one briefly, emphasizing the novel hybrid + explainable approach.</a:t>
            </a:r>
            <a:endParaRPr/>
          </a:p>
        </p:txBody>
      </p:sp>
      <p:sp>
        <p:nvSpPr>
          <p:cNvPr id="87" name="Google Shape;8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7175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four integrated layers are the core innovation. Emphasize layer 1 (rule encoding) + layer 4 (explainability) as the key differentiators from existing black-box approaches.</a:t>
            </a:r>
            <a:endParaRPr/>
          </a:p>
        </p:txBody>
      </p:sp>
      <p:sp>
        <p:nvSpPr>
          <p:cNvPr id="127" name="Google Shape;12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744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2dc06c3c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f2dc06c3c3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Seven phases over 12 months. Emphasize that Phase 4 (model development) is the longest at 4 months, reflecting the core technical challenge.</a:t>
            </a:r>
            <a:endParaRPr/>
          </a:p>
        </p:txBody>
      </p:sp>
      <p:sp>
        <p:nvSpPr>
          <p:cNvPr id="153" name="Google Shape;153;g3f2dc06c3c3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0231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Seven phases over 12 months. Emphasize that Phase 4 (model development) is the longest at 4 months, reflecting the core technical challenge.</a:t>
            </a:r>
            <a:endParaRPr/>
          </a:p>
        </p:txBody>
      </p:sp>
      <p:sp>
        <p:nvSpPr>
          <p:cNvPr id="163" name="Google Shape;16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4288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 deliverables map to tangible research outputs. The open-source toolkit is key for long-term impact on Indic NLP research.</a:t>
            </a:r>
            <a:endParaRPr/>
          </a:p>
        </p:txBody>
      </p:sp>
      <p:sp>
        <p:nvSpPr>
          <p:cNvPr id="229" name="Google Shape;22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4252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major research domains benefit: XAI, Computational Historical Linguistics, and Digital Preservation of Indian Heritage. Emphasize the scalability to other Indic language pairs.</a:t>
            </a:r>
            <a:endParaRPr/>
          </a:p>
        </p:txBody>
      </p:sp>
      <p:sp>
        <p:nvSpPr>
          <p:cNvPr id="267" name="Google Shape;26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5025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B3C"/>
          </a:solidFill>
          <a:ln w="12700" cap="flat" cmpd="sng">
            <a:solidFill>
              <a:srgbClr val="C89B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243A6A">
              <a:alpha val="60000"/>
            </a:srgbClr>
          </a:solidFill>
          <a:ln w="12700" cap="flat" cmpd="sng">
            <a:solidFill>
              <a:srgbClr val="243A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766560" y="-548640"/>
            <a:ext cx="2926080" cy="2926080"/>
          </a:xfrm>
          <a:prstGeom prst="ellipse">
            <a:avLst/>
          </a:prstGeom>
          <a:solidFill>
            <a:srgbClr val="2D4E8A">
              <a:alpha val="50196"/>
            </a:srgbClr>
          </a:solidFill>
          <a:ln w="12700" cap="flat" cmpd="sng">
            <a:solidFill>
              <a:srgbClr val="2D4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502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1280160" y="4572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1005840"/>
            <a:ext cx="82296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Hybrid AI-Based Framework for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Reconstructing the Evolution of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Marathi from Sanskrit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3246120"/>
            <a:ext cx="2286000" cy="45720"/>
          </a:xfrm>
          <a:prstGeom prst="rect">
            <a:avLst/>
          </a:prstGeom>
          <a:solidFill>
            <a:srgbClr val="C89B3C"/>
          </a:solidFill>
          <a:ln w="12700" cap="flat" cmpd="sng">
            <a:solidFill>
              <a:srgbClr val="C89B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02920" y="34290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dirty="0" smtClean="0">
                <a:solidFill>
                  <a:srgbClr val="A0ABBE"/>
                </a:solidFill>
                <a:latin typeface="Calibri"/>
                <a:ea typeface="Calibri"/>
                <a:cs typeface="Calibri"/>
                <a:sym typeface="Calibri"/>
              </a:rPr>
              <a:t>Department </a:t>
            </a:r>
            <a:r>
              <a:rPr lang="en-US" sz="1300" dirty="0">
                <a:solidFill>
                  <a:srgbClr val="A0ABBE"/>
                </a:solidFill>
                <a:latin typeface="Calibri"/>
                <a:ea typeface="Calibri"/>
                <a:cs typeface="Calibri"/>
                <a:sym typeface="Calibri"/>
              </a:rPr>
              <a:t>of Information Technology</a:t>
            </a:r>
            <a:endParaRPr sz="1300" dirty="0">
              <a:solidFill>
                <a:srgbClr val="A0ABB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BBE"/>
              </a:buClr>
              <a:buSzPts val="1300"/>
              <a:buFont typeface="Calibri"/>
              <a:buNone/>
            </a:pPr>
            <a:endParaRPr sz="1300" dirty="0">
              <a:solidFill>
                <a:srgbClr val="A0ABB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F1E3A"/>
          </a:solidFill>
          <a:ln w="12700" cap="flat" cmpd="sng">
            <a:solidFill>
              <a:srgbClr val="0F1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57200" y="450799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DOMAIN</a:t>
            </a:r>
            <a:br>
              <a:rPr lang="en-US" sz="800" b="1" i="0" u="none" strike="noStrike" cap="non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&amp; NLP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651760" y="450799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br>
              <a:rPr lang="en-US" sz="800" b="1" i="0" u="none" strike="noStrike" cap="none" dirty="0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846320" y="450799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br>
              <a:rPr lang="en-US" sz="800" b="1" i="0" u="none" strike="noStrike" cap="none" dirty="0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040880" y="450799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AREA</a:t>
            </a:r>
            <a:br>
              <a:rPr lang="en-US" sz="800" b="1" i="0" u="none" strike="noStrike" cap="non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Computational Linguistics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0728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0728A"/>
                </a:solidFill>
                <a:latin typeface="Calibri"/>
                <a:ea typeface="Calibri"/>
                <a:cs typeface="Calibri"/>
                <a:sym typeface="Calibri"/>
              </a:rPr>
              <a:t>MMCOE · Karvenagar, Pune – 52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4C"/>
          </a:solidFill>
          <a:ln w="12700" cap="flat" cmpd="sng">
            <a:solidFill>
              <a:srgbClr val="1A2A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" name="Google Shape;36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" y="2011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Introduction &amp; Motivation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109728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02920" y="1234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Marathi at a Glance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02920" y="1645920"/>
            <a:ext cx="36576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95+ million speakers worldwide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Official language of Maharashtra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Evolved from Sanskrit via Maharashtri </a:t>
            </a:r>
            <a:r>
              <a:rPr lang="en-US" sz="13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Prakrit &amp; Apabhraṃśa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Rich literary tradition dating back 1,000+ years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11th most spoken language globally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0" y="109728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F8F9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709160" y="12344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709160" y="1645920"/>
            <a:ext cx="384048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Historical transformations </a:t>
            </a:r>
            <a:r>
              <a:rPr lang="en-US" sz="13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documented manually by scholars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300"/>
              <a:buFont typeface="Calibri"/>
              <a:buChar char="•"/>
            </a:pPr>
            <a:r>
              <a:rPr lang="en-US" sz="13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No computationally grounded, explainable AI framework exists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Neural translation systems lack linguistic interpretability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Sanskrit–Marathi diachronic </a:t>
            </a:r>
            <a:r>
              <a:rPr lang="en-US" sz="13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datasets are absent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Indic languages underrepresented in computational linguistics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2A4C"/>
          </a:solidFill>
          <a:ln w="12700" cap="flat" cmpd="sng">
            <a:solidFill>
              <a:srgbClr val="1A2A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57200" y="4791456"/>
            <a:ext cx="16459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Sanskrit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011680" y="4791456"/>
            <a:ext cx="2743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514600" y="4791456"/>
            <a:ext cx="16459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Prakrit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069080" y="4791456"/>
            <a:ext cx="2743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0" y="4791456"/>
            <a:ext cx="16459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Apabhraṃśa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126480" y="4791456"/>
            <a:ext cx="2743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629400" y="4791456"/>
            <a:ext cx="16459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Marathi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7A8C"/>
          </a:solidFill>
          <a:ln w="12700" cap="flat" cmpd="sng">
            <a:solidFill>
              <a:srgbClr val="1B7A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" y="2011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Research Gaps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20040" y="10972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 cap="flat" cmpd="sng">
            <a:solidFill>
              <a:srgbClr val="DDE5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57200" y="120700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7A8C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1B7A8C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" y="162763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No Computational Framework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" y="2029968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 AI system models Marathi's diachronic evolution from Sanskrit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264408" y="10972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 cap="flat" cmpd="sng">
            <a:solidFill>
              <a:srgbClr val="DDE5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3401568" y="120700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7A8C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1B7A8C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401568" y="162763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No Hybrid Model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401568" y="2029968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Transformer models lack linguistically grounded phonological rules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208776" y="10972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 cap="flat" cmpd="sng">
            <a:solidFill>
              <a:srgbClr val="DDE5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345936" y="120700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7A8C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1B7A8C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345936" y="162763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Missing Datasets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345936" y="2029968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 curated Sanskrit–Marathi aligned lexical dataset for AI training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20040" y="30175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 cap="flat" cmpd="sng">
            <a:solidFill>
              <a:srgbClr val="DDE5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57200" y="312724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7A8C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1B7A8C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7200" y="354787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No Explainability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57200" y="3950208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Existing NLP outputs lack step-wise phonological transformation traces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264408" y="30175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 cap="flat" cmpd="sng">
            <a:solidFill>
              <a:srgbClr val="DDE5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401568" y="312724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7A8C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1B7A8C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401568" y="354787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Semantic Drift Unmodeled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401568" y="3950208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Meaning shifts between Sanskrit roots and Marathi forms not captured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208776" y="30175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 cap="flat" cmpd="sng">
            <a:solidFill>
              <a:srgbClr val="DDE5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345936" y="312724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7A8C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1B7A8C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345936" y="354787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No Open Toolkit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345936" y="3950208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 open-source framework for Indic computational historical linguistics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D8F"/>
          </a:solidFill>
          <a:ln w="12700" cap="flat" cmpd="sng">
            <a:solidFill>
              <a:srgbClr val="7C3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" name="Google Shape;90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" y="2011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Project Objectives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20040" y="1078992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29768" y="1234440"/>
            <a:ext cx="475488" cy="475488"/>
          </a:xfrm>
          <a:prstGeom prst="ellipse">
            <a:avLst/>
          </a:prstGeom>
          <a:solidFill>
            <a:srgbClr val="7C3D8F"/>
          </a:solidFill>
          <a:ln w="12700" cap="flat" cmpd="sng">
            <a:solidFill>
              <a:srgbClr val="7C3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056" y="12527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1005840" y="1152144"/>
            <a:ext cx="34015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Design a hybrid architecture integrating rule-based phonology with Transformer neural modelling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846320" y="1078992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956048" y="1234440"/>
            <a:ext cx="475488" cy="475488"/>
          </a:xfrm>
          <a:prstGeom prst="ellipse">
            <a:avLst/>
          </a:prstGeom>
          <a:solidFill>
            <a:srgbClr val="7C3D8F"/>
          </a:solidFill>
          <a:ln w="12700" cap="flat" cmpd="sng">
            <a:solidFill>
              <a:srgbClr val="7C3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" name="Google Shape;98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74336" y="12527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/>
          <p:nvPr/>
        </p:nvSpPr>
        <p:spPr>
          <a:xfrm>
            <a:off x="5532120" y="1152144"/>
            <a:ext cx="34015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Formally encode Sanskrit–Marathi phonological &amp; morphological transformation rules (vowel shifts, schwa deletion, assimilation)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20040" y="2048256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429768" y="2203704"/>
            <a:ext cx="475488" cy="475488"/>
          </a:xfrm>
          <a:prstGeom prst="ellipse">
            <a:avLst/>
          </a:prstGeom>
          <a:solidFill>
            <a:srgbClr val="7C3D8F"/>
          </a:solidFill>
          <a:ln w="12700" cap="flat" cmpd="sng">
            <a:solidFill>
              <a:srgbClr val="7C3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" name="Google Shape;102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8056" y="222199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1005840" y="2121408"/>
            <a:ext cx="34015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Develop phoneme-level modelling using IPA-based feature embeddings for structural sound-change learning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46320" y="2048256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956048" y="2203704"/>
            <a:ext cx="475488" cy="475488"/>
          </a:xfrm>
          <a:prstGeom prst="ellipse">
            <a:avLst/>
          </a:prstGeom>
          <a:solidFill>
            <a:srgbClr val="7C3D8F"/>
          </a:solidFill>
          <a:ln w="12700" cap="flat" cmpd="sng">
            <a:solidFill>
              <a:srgbClr val="7C3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74336" y="222199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5532120" y="2121408"/>
            <a:ext cx="34015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Construct a curated, aligned Sanskrit–Marathi diachronic lexical dataset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20040" y="301752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29768" y="3172968"/>
            <a:ext cx="475488" cy="475488"/>
          </a:xfrm>
          <a:prstGeom prst="ellipse">
            <a:avLst/>
          </a:prstGeom>
          <a:solidFill>
            <a:srgbClr val="7C3D8F"/>
          </a:solidFill>
          <a:ln w="12700" cap="flat" cmpd="sng">
            <a:solidFill>
              <a:srgbClr val="7C3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8056" y="31912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1005840" y="3090672"/>
            <a:ext cx="34015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Model semantic drift between Sanskrit roots and Marathi derivatives using embedding-based similarity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846320" y="301752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4956048" y="3172968"/>
            <a:ext cx="475488" cy="475488"/>
          </a:xfrm>
          <a:prstGeom prst="ellipse">
            <a:avLst/>
          </a:prstGeom>
          <a:solidFill>
            <a:srgbClr val="7C3D8F"/>
          </a:solidFill>
          <a:ln w="12700" cap="flat" cmpd="sng">
            <a:solidFill>
              <a:srgbClr val="7C3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" name="Google Shape;114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74336" y="31912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5532120" y="3090672"/>
            <a:ext cx="34015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Implement an explainability module generating interpretable, step-wise phonological transformation outputs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20040" y="3986784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429768" y="4142232"/>
            <a:ext cx="475488" cy="475488"/>
          </a:xfrm>
          <a:prstGeom prst="ellipse">
            <a:avLst/>
          </a:prstGeom>
          <a:solidFill>
            <a:srgbClr val="7C3D8F"/>
          </a:solidFill>
          <a:ln w="12700" cap="flat" cmpd="sng">
            <a:solidFill>
              <a:srgbClr val="7C3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8056" y="416052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1005840" y="4059936"/>
            <a:ext cx="34015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Evaluate using CER, Phonetic Edit Distance, BLEU/chrF scores + expert linguistic validation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846320" y="3986784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4956048" y="4142232"/>
            <a:ext cx="475488" cy="475488"/>
          </a:xfrm>
          <a:prstGeom prst="ellipse">
            <a:avLst/>
          </a:prstGeom>
          <a:solidFill>
            <a:srgbClr val="7C3D8F"/>
          </a:solidFill>
          <a:ln w="12700" cap="flat" cmpd="sng">
            <a:solidFill>
              <a:srgbClr val="7C3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p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74336" y="416052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5532120" y="4059936"/>
            <a:ext cx="34015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Release an open-source computational historical linguistics toolkit for Marathi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A"/>
          </a:solidFill>
          <a:ln w="12700" cap="flat" cmpd="sng">
            <a:solidFill>
              <a:srgbClr val="0F1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" y="2011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Proposed System Architecture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20040" y="105156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2D5A9B"/>
          </a:solidFill>
          <a:ln w="12700" cap="flat" cmpd="sng">
            <a:solidFill>
              <a:srgbClr val="2D5A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11480" y="1216152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14400" y="110642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Linguistic Rule Encoding Layer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914400" y="1453896"/>
            <a:ext cx="76809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D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DD0E8"/>
                </a:solidFill>
                <a:latin typeface="Calibri"/>
                <a:ea typeface="Calibri"/>
                <a:cs typeface="Calibri"/>
                <a:sym typeface="Calibri"/>
              </a:rPr>
              <a:t>Formal computational encoding of historical phonological rules: vowel shifts, consonant simplification, schwa deletion, assimilation, morphophonemic alternations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20040" y="201168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1B7A8C"/>
          </a:solidFill>
          <a:ln w="12700" cap="flat" cmpd="sng">
            <a:solidFill>
              <a:srgbClr val="1B7A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411480" y="2176272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914400" y="206654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Phoneme-Level Neural Modelling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914400" y="2414016"/>
            <a:ext cx="76809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D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DD0E8"/>
                </a:solidFill>
                <a:latin typeface="Calibri"/>
                <a:ea typeface="Calibri"/>
                <a:cs typeface="Calibri"/>
                <a:sym typeface="Calibri"/>
              </a:rPr>
              <a:t>Transformer architecture trained at phoneme level with IPA-based feature embeddings — learns structural phonetic evolution patterns, not surface orthography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20040" y="297180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7C3D8F"/>
          </a:solidFill>
          <a:ln w="12700" cap="flat" cmpd="sng">
            <a:solidFill>
              <a:srgbClr val="7C3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11480" y="3136392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914400" y="302666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Drift Modelling Layer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914400" y="3374136"/>
            <a:ext cx="76809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D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DD0E8"/>
                </a:solidFill>
                <a:latin typeface="Calibri"/>
                <a:ea typeface="Calibri"/>
                <a:cs typeface="Calibri"/>
                <a:sym typeface="Calibri"/>
              </a:rPr>
              <a:t>Contrastive representation learning captures semantic proximity and gradual meaning shifts between Sanskrit roots and Marathi derivatives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20040" y="393192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411480" y="4096512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914400" y="398678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Explainability &amp; Traceability Module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914400" y="4334256"/>
            <a:ext cx="76809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D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DD0E8"/>
                </a:solidFill>
                <a:latin typeface="Calibri"/>
                <a:ea typeface="Calibri"/>
                <a:cs typeface="Calibri"/>
                <a:sym typeface="Calibri"/>
              </a:rPr>
              <a:t>Generates interpretable step-wise transformation outputs showing intermediate phonological stages — transparent, not opaque neural predictions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20040" y="47548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INPUT: Sanskrit Root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657600" y="4754880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OUTPUT: Reconstructed Marathi Form + Transformation Trace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2dc06c3c3_0_5"/>
          <p:cNvSpPr/>
          <p:nvPr/>
        </p:nvSpPr>
        <p:spPr>
          <a:xfrm>
            <a:off x="0" y="-13055"/>
            <a:ext cx="9144000" cy="448800"/>
          </a:xfrm>
          <a:prstGeom prst="rect">
            <a:avLst/>
          </a:prstGeom>
          <a:solidFill>
            <a:srgbClr val="2D6A9F"/>
          </a:solidFill>
          <a:ln w="12700" cap="flat" cmpd="sng">
            <a:solidFill>
              <a:srgbClr val="2D6A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f2dc06c3c3_0_5"/>
          <p:cNvSpPr/>
          <p:nvPr/>
        </p:nvSpPr>
        <p:spPr>
          <a:xfrm>
            <a:off x="942595" y="-84283"/>
            <a:ext cx="7772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Flow Diagram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g3f2dc06c3c3_0_5"/>
          <p:cNvPicPr preferRelativeResize="0"/>
          <p:nvPr/>
        </p:nvPicPr>
        <p:blipFill rotWithShape="1">
          <a:blip r:embed="rId3">
            <a:alphaModFix/>
          </a:blip>
          <a:srcRect l="22172" t="-773" r="17148" b="10941"/>
          <a:stretch/>
        </p:blipFill>
        <p:spPr>
          <a:xfrm>
            <a:off x="798350" y="550091"/>
            <a:ext cx="3548751" cy="45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f2dc06c3c3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4326" y="723758"/>
            <a:ext cx="3014700" cy="44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f2dc06c3c3_0_5"/>
          <p:cNvSpPr txBox="1"/>
          <p:nvPr/>
        </p:nvSpPr>
        <p:spPr>
          <a:xfrm>
            <a:off x="6502650" y="462070"/>
            <a:ext cx="16647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Example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9F"/>
          </a:solidFill>
          <a:ln w="12700" cap="flat" cmpd="sng">
            <a:solidFill>
              <a:srgbClr val="2D6A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" y="2011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Methodology &amp; Work Plan (12 Months)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2743200" y="8503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253740" y="8503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764280" y="8503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274820" y="8503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785360" y="8503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295900" y="8503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806440" y="8503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316980" y="8503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827520" y="8503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338060" y="8503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848600" y="8503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359140" y="8503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2743200" y="1005840"/>
            <a:ext cx="6126480" cy="0"/>
          </a:xfrm>
          <a:prstGeom prst="straightConnector1">
            <a:avLst/>
          </a:prstGeom>
          <a:noFill/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6"/>
          <p:cNvSpPr/>
          <p:nvPr/>
        </p:nvSpPr>
        <p:spPr>
          <a:xfrm>
            <a:off x="320040" y="109728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5A9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D5A9B"/>
                </a:solidFill>
                <a:latin typeface="Calibri"/>
                <a:ea typeface="Calibri"/>
                <a:cs typeface="Calibri"/>
                <a:sym typeface="Calibri"/>
              </a:rPr>
              <a:t>Phase 1  ·  M1–M2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20040" y="13258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Literature Review &amp; Data Collection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743200" y="1143000"/>
            <a:ext cx="6126480" cy="347472"/>
          </a:xfrm>
          <a:prstGeom prst="roundRect">
            <a:avLst>
              <a:gd name="adj" fmla="val 13158"/>
            </a:avLst>
          </a:prstGeom>
          <a:solidFill>
            <a:srgbClr val="F0F0F0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2743200" y="1143000"/>
            <a:ext cx="1021080" cy="347472"/>
          </a:xfrm>
          <a:prstGeom prst="roundRect">
            <a:avLst>
              <a:gd name="adj" fmla="val 13158"/>
            </a:avLst>
          </a:prstGeom>
          <a:solidFill>
            <a:srgbClr val="2D5A9B"/>
          </a:solidFill>
          <a:ln w="12700" cap="flat" cmpd="sng">
            <a:solidFill>
              <a:srgbClr val="2D5A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320040" y="162763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7A8C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B7A8C"/>
                </a:solidFill>
                <a:latin typeface="Calibri"/>
                <a:ea typeface="Calibri"/>
                <a:cs typeface="Calibri"/>
                <a:sym typeface="Calibri"/>
              </a:rPr>
              <a:t>Phase 2  ·  M2–M3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320040" y="1856232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Linguistic Rule Encoding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743200" y="1673352"/>
            <a:ext cx="6126480" cy="347472"/>
          </a:xfrm>
          <a:prstGeom prst="roundRect">
            <a:avLst>
              <a:gd name="adj" fmla="val 13158"/>
            </a:avLst>
          </a:prstGeom>
          <a:solidFill>
            <a:srgbClr val="F0F0F0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3253740" y="1673352"/>
            <a:ext cx="1021080" cy="347472"/>
          </a:xfrm>
          <a:prstGeom prst="roundRect">
            <a:avLst>
              <a:gd name="adj" fmla="val 13158"/>
            </a:avLst>
          </a:prstGeom>
          <a:solidFill>
            <a:srgbClr val="1B7A8C"/>
          </a:solidFill>
          <a:ln w="12700" cap="flat" cmpd="sng">
            <a:solidFill>
              <a:srgbClr val="1B7A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320040" y="215798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D8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7C3D8F"/>
                </a:solidFill>
                <a:latin typeface="Calibri"/>
                <a:ea typeface="Calibri"/>
                <a:cs typeface="Calibri"/>
                <a:sym typeface="Calibri"/>
              </a:rPr>
              <a:t>Phase 3  ·  M3–M4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320040" y="2386584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Dataset Construction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2743200" y="2203704"/>
            <a:ext cx="6126480" cy="347472"/>
          </a:xfrm>
          <a:prstGeom prst="roundRect">
            <a:avLst>
              <a:gd name="adj" fmla="val 13158"/>
            </a:avLst>
          </a:prstGeom>
          <a:solidFill>
            <a:srgbClr val="F0F0F0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3764280" y="2203704"/>
            <a:ext cx="1021080" cy="347472"/>
          </a:xfrm>
          <a:prstGeom prst="roundRect">
            <a:avLst>
              <a:gd name="adj" fmla="val 13158"/>
            </a:avLst>
          </a:prstGeom>
          <a:solidFill>
            <a:srgbClr val="7C3D8F"/>
          </a:solidFill>
          <a:ln w="12700" cap="flat" cmpd="sng">
            <a:solidFill>
              <a:srgbClr val="7C3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320040" y="2688336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Phase 4  ·  M4–M7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20040" y="2916936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Model Development (Hybrid Transformer)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2743200" y="2734056"/>
            <a:ext cx="6126480" cy="347472"/>
          </a:xfrm>
          <a:prstGeom prst="roundRect">
            <a:avLst>
              <a:gd name="adj" fmla="val 13158"/>
            </a:avLst>
          </a:prstGeom>
          <a:solidFill>
            <a:srgbClr val="F0F0F0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274820" y="2734056"/>
            <a:ext cx="2042160" cy="347472"/>
          </a:xfrm>
          <a:prstGeom prst="roundRect">
            <a:avLst>
              <a:gd name="adj" fmla="val 13158"/>
            </a:avLst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320040" y="3218688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D35400"/>
                </a:solidFill>
                <a:latin typeface="Calibri"/>
                <a:ea typeface="Calibri"/>
                <a:cs typeface="Calibri"/>
                <a:sym typeface="Calibri"/>
              </a:rPr>
              <a:t>Phase 5  ·  M7–M9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20040" y="344728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Semantic Drift Modelling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743200" y="3264408"/>
            <a:ext cx="6126480" cy="347472"/>
          </a:xfrm>
          <a:prstGeom prst="roundRect">
            <a:avLst>
              <a:gd name="adj" fmla="val 13158"/>
            </a:avLst>
          </a:prstGeom>
          <a:solidFill>
            <a:srgbClr val="F0F0F0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5806440" y="3264408"/>
            <a:ext cx="1531620" cy="347472"/>
          </a:xfrm>
          <a:prstGeom prst="roundRect">
            <a:avLst>
              <a:gd name="adj" fmla="val 13158"/>
            </a:avLst>
          </a:prstGeom>
          <a:solidFill>
            <a:srgbClr val="D35400"/>
          </a:solidFill>
          <a:ln w="12700" cap="flat" cmpd="sng">
            <a:solidFill>
              <a:srgbClr val="D35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320040" y="374904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Phase 6  ·  M9–M10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20040" y="397764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Evaluation &amp; Linguistic Validation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2743200" y="3794760"/>
            <a:ext cx="6126480" cy="347472"/>
          </a:xfrm>
          <a:prstGeom prst="roundRect">
            <a:avLst>
              <a:gd name="adj" fmla="val 13158"/>
            </a:avLst>
          </a:prstGeom>
          <a:solidFill>
            <a:srgbClr val="F0F0F0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6827520" y="3794760"/>
            <a:ext cx="1021080" cy="347472"/>
          </a:xfrm>
          <a:prstGeom prst="roundRect">
            <a:avLst>
              <a:gd name="adj" fmla="val 13158"/>
            </a:avLst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320040" y="427939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3483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6C3483"/>
                </a:solidFill>
                <a:latin typeface="Calibri"/>
                <a:ea typeface="Calibri"/>
                <a:cs typeface="Calibri"/>
                <a:sym typeface="Calibri"/>
              </a:rPr>
              <a:t>Phase 7  ·  M10–M12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20040" y="4507992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Deployment, Publication &amp; Dissemination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2743200" y="4325112"/>
            <a:ext cx="6126480" cy="347472"/>
          </a:xfrm>
          <a:prstGeom prst="roundRect">
            <a:avLst>
              <a:gd name="adj" fmla="val 13158"/>
            </a:avLst>
          </a:prstGeom>
          <a:solidFill>
            <a:srgbClr val="F0F0F0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7338060" y="4325112"/>
            <a:ext cx="1531620" cy="347472"/>
          </a:xfrm>
          <a:prstGeom prst="roundRect">
            <a:avLst>
              <a:gd name="adj" fmla="val 13158"/>
            </a:avLst>
          </a:prstGeom>
          <a:solidFill>
            <a:srgbClr val="6C3483"/>
          </a:solidFill>
          <a:ln w="12700" cap="flat" cmpd="sng">
            <a:solidFill>
              <a:srgbClr val="6C34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4C"/>
          </a:solidFill>
          <a:ln w="12700" cap="flat" cmpd="sng">
            <a:solidFill>
              <a:srgbClr val="1A2A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2" name="Google Shape;232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" y="2011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7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Expected Outcomes &amp; Impact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320040" y="10972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 cap="flat" cmpd="sng">
            <a:solidFill>
              <a:srgbClr val="DDE5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429768" y="1207008"/>
            <a:ext cx="502920" cy="502920"/>
          </a:xfrm>
          <a:prstGeom prst="ellipse">
            <a:avLst/>
          </a:prstGeom>
          <a:solidFill>
            <a:srgbClr val="2D6A9F"/>
          </a:solidFill>
          <a:ln w="12700" cap="flat" cmpd="sng">
            <a:solidFill>
              <a:srgbClr val="2D6A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6" name="Google Shape;23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056" y="1225296"/>
            <a:ext cx="46634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/>
          <p:nvPr/>
        </p:nvSpPr>
        <p:spPr>
          <a:xfrm>
            <a:off x="457200" y="176479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Hybrid AI Framework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57200" y="213969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Rule-aware Transformer model integrating phonological rules with neural sequence learning — first of its kind for Marathi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3264408" y="10972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 cap="flat" cmpd="sng">
            <a:solidFill>
              <a:srgbClr val="DDE5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3374136" y="1207008"/>
            <a:ext cx="502920" cy="502920"/>
          </a:xfrm>
          <a:prstGeom prst="ellipse">
            <a:avLst/>
          </a:prstGeom>
          <a:solidFill>
            <a:srgbClr val="1B7A8C"/>
          </a:solidFill>
          <a:ln w="12700" cap="flat" cmpd="sng">
            <a:solidFill>
              <a:srgbClr val="1B7A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1" name="Google Shape;241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2424" y="1225296"/>
            <a:ext cx="46634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7"/>
          <p:cNvSpPr/>
          <p:nvPr/>
        </p:nvSpPr>
        <p:spPr>
          <a:xfrm>
            <a:off x="3401568" y="176479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Diachronic Dataset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3401568" y="213969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Curated Sanskrit–Marathi aligned lexical dataset released openly for the research community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208776" y="10972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 cap="flat" cmpd="sng">
            <a:solidFill>
              <a:srgbClr val="DDE5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6318504" y="1207008"/>
            <a:ext cx="502920" cy="502920"/>
          </a:xfrm>
          <a:prstGeom prst="ellipse">
            <a:avLst/>
          </a:prstGeom>
          <a:solidFill>
            <a:srgbClr val="7C3D8F"/>
          </a:solidFill>
          <a:ln w="12700" cap="flat" cmpd="sng">
            <a:solidFill>
              <a:srgbClr val="7C3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6" name="Google Shape;246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6792" y="1225296"/>
            <a:ext cx="46634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7"/>
          <p:cNvSpPr/>
          <p:nvPr/>
        </p:nvSpPr>
        <p:spPr>
          <a:xfrm>
            <a:off x="6345936" y="176479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Explainability Module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345936" y="213969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Step-wise phonological transformation traces providing interpretable AI reasoning for historical linguistics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320040" y="3017520"/>
            <a:ext cx="2743200" cy="17373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 cap="flat" cmpd="sng">
            <a:solidFill>
              <a:srgbClr val="DDE5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429768" y="3127248"/>
            <a:ext cx="502920" cy="502920"/>
          </a:xfrm>
          <a:prstGeom prst="ellipse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1" name="Google Shape;251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056" y="3145536"/>
            <a:ext cx="46634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7"/>
          <p:cNvSpPr/>
          <p:nvPr/>
        </p:nvSpPr>
        <p:spPr>
          <a:xfrm>
            <a:off x="457200" y="368503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Quantitative Evaluation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457200" y="4059936"/>
            <a:ext cx="2469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CER, Phonetic Edit Distance, BLEU/chrF + expert linguistic validation ensuring scientific rigor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264408" y="30175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 cap="flat" cmpd="sng">
            <a:solidFill>
              <a:srgbClr val="DDE5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3374136" y="3127248"/>
            <a:ext cx="502920" cy="502920"/>
          </a:xfrm>
          <a:prstGeom prst="ellipse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6" name="Google Shape;256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92424" y="3145536"/>
            <a:ext cx="46634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7"/>
          <p:cNvSpPr/>
          <p:nvPr/>
        </p:nvSpPr>
        <p:spPr>
          <a:xfrm>
            <a:off x="3401568" y="368503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Research Publications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3401568" y="405993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≥1 paper in Scopus/SCI indexed journal + presentation at national/international conference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208776" y="30175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 cap="flat" cmpd="sng">
            <a:solidFill>
              <a:srgbClr val="DDE5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6318504" y="3127248"/>
            <a:ext cx="502920" cy="502920"/>
          </a:xfrm>
          <a:prstGeom prst="ellipse">
            <a:avLst/>
          </a:prstGeom>
          <a:solidFill>
            <a:srgbClr val="D35400"/>
          </a:solidFill>
          <a:ln w="12700" cap="flat" cmpd="sng">
            <a:solidFill>
              <a:srgbClr val="D35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1" name="Google Shape;261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6792" y="3145536"/>
            <a:ext cx="46634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7"/>
          <p:cNvSpPr/>
          <p:nvPr/>
        </p:nvSpPr>
        <p:spPr>
          <a:xfrm>
            <a:off x="6345936" y="368503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4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A4C"/>
                </a:solidFill>
                <a:latin typeface="Calibri"/>
                <a:ea typeface="Calibri"/>
                <a:cs typeface="Calibri"/>
                <a:sym typeface="Calibri"/>
              </a:rPr>
              <a:t>Open-Source Toolkit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6345936" y="405993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Documented toolkit for computational historical reconstruction of Indic languages, seeding future research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C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A"/>
          </a:solidFill>
          <a:ln w="12700" cap="flat" cmpd="sng">
            <a:solidFill>
              <a:srgbClr val="0F1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0" name="Google Shape;270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" y="2011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9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Broader Impact &amp; Contributions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320040" y="1078992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2D6A9F"/>
          </a:solidFill>
          <a:ln w="12700" cap="flat" cmpd="sng">
            <a:solidFill>
              <a:srgbClr val="2D6A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502920" y="1216152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Explainable AI for Low-Resource Languages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02920" y="1673352"/>
            <a:ext cx="3749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Advances XAI methodologies applicable to all Indo-Aryan languages, creating replicable models for linguistic communities worldwide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754880" y="1078992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7C3D8F"/>
          </a:solidFill>
          <a:ln w="12700" cap="flat" cmpd="sng">
            <a:solidFill>
              <a:srgbClr val="7C3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4937760" y="1216152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Computational Historical Linguistics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4937760" y="1673352"/>
            <a:ext cx="3749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Establishes the first AI benchmark for Sanskrit–Marathi diachronic reconstruction, enabling systematic comparative studies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320040" y="3090672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1B7A8C"/>
          </a:solidFill>
          <a:ln w="12700" cap="flat" cmpd="sng">
            <a:solidFill>
              <a:srgbClr val="1B7A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502920" y="3227832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Preservation of Indian Heritage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502920" y="3685032"/>
            <a:ext cx="3749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Provides tools for restoring historical manuscripts, enabling digital humanities scholars to work at scale with AI assistance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754880" y="3090672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4937760" y="3227832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Educational Applications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4937760" y="3685032"/>
            <a:ext cx="3749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Framework enables interactive language learning tools demonstrating the deep historical connections between Sanskrit and modern Marathi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885</Words>
  <Application>Microsoft Office PowerPoint</Application>
  <PresentationFormat>On-screen Show (16:9)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Malhar Pangarkar, Atharva Khambete, Avanish Kulkarni</dc:creator>
  <cp:lastModifiedBy>Dr. Rupali Chopade</cp:lastModifiedBy>
  <cp:revision>1</cp:revision>
  <dcterms:created xsi:type="dcterms:W3CDTF">2026-06-29T05:00:31Z</dcterms:created>
  <dcterms:modified xsi:type="dcterms:W3CDTF">2026-09-07T04:09:26Z</dcterms:modified>
</cp:coreProperties>
</file>